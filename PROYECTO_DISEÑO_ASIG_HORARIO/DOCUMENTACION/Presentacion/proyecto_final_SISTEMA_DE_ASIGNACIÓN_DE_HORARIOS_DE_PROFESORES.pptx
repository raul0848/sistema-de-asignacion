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embeddedFontLst>
    <p:embeddedFont>
      <p:font typeface="Didact Gothic" panose="00000500000000000000" pitchFamily="2" charset="0"/>
      <p:regular r:id="rId21"/>
    </p:embeddedFont>
    <p:embeddedFont>
      <p:font typeface="Nunito Light" pitchFamily="2" charset="0"/>
      <p:regular r:id="rId22"/>
    </p:embeddedFont>
    <p:embeddedFont>
      <p:font typeface="Open Sans" panose="020B0606030504020204" pitchFamily="34" charset="0"/>
      <p:regular r:id="rId23"/>
    </p:embeddedFont>
    <p:embeddedFont>
      <p:font typeface="Raleway" pitchFamily="2" charset="0"/>
      <p:regular r:id="rId24"/>
      <p:bold r:id="rId25"/>
      <p:italic r:id="rId26"/>
      <p:boldItalic r:id="rId27"/>
    </p:embeddedFont>
    <p:embeddedFont>
      <p:font typeface="Ruda" panose="020B0604020202020204" charset="0"/>
      <p:regular r:id="rId28"/>
      <p:bold r:id="rId29"/>
    </p:embeddedFont>
    <p:embeddedFont>
      <p:font typeface="Ruda Black" panose="020B0604020202020204" charset="0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jdomLL9xq2MuAUGrBCbFXhXj0N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D1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0c1464f5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0c1464f5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5a93474d8b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35a93474d8b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182893e961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3182893e961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a93474d8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35a93474d8b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3703e5e1be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33703e5e1be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182893e961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3182893e961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5a93474d8b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35a93474d8b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5a93474d8b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35a93474d8b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0c1464f5ba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g30c1464f5ba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370c97aa9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g3370c97aa9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370c97aa9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g3370c97aa9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3703e5e1be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g33703e5e1be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3703e5e1be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3703e5e1be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182893e961_1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g3182893e961_1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1"/>
          <p:cNvSpPr txBox="1">
            <a:spLocks noGrp="1"/>
          </p:cNvSpPr>
          <p:nvPr>
            <p:ph type="title" hasCustomPrompt="1"/>
          </p:nvPr>
        </p:nvSpPr>
        <p:spPr>
          <a:xfrm>
            <a:off x="4436950" y="1297600"/>
            <a:ext cx="4026900" cy="16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" name="Google Shape;10;p31"/>
          <p:cNvSpPr txBox="1">
            <a:spLocks noGrp="1"/>
          </p:cNvSpPr>
          <p:nvPr>
            <p:ph type="subTitle" idx="1"/>
          </p:nvPr>
        </p:nvSpPr>
        <p:spPr>
          <a:xfrm>
            <a:off x="4436950" y="3058575"/>
            <a:ext cx="4026900" cy="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" name="Google Shape;11;p31"/>
          <p:cNvSpPr>
            <a:spLocks noGrp="1"/>
          </p:cNvSpPr>
          <p:nvPr>
            <p:ph type="pic" idx="2"/>
          </p:nvPr>
        </p:nvSpPr>
        <p:spPr>
          <a:xfrm>
            <a:off x="1279750" y="729325"/>
            <a:ext cx="2786700" cy="3460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2"/>
          <p:cNvSpPr txBox="1">
            <a:spLocks noGrp="1"/>
          </p:cNvSpPr>
          <p:nvPr>
            <p:ph type="ctrTitle"/>
          </p:nvPr>
        </p:nvSpPr>
        <p:spPr>
          <a:xfrm>
            <a:off x="713225" y="756575"/>
            <a:ext cx="4833300" cy="23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subTitle" idx="1"/>
          </p:nvPr>
        </p:nvSpPr>
        <p:spPr>
          <a:xfrm>
            <a:off x="713225" y="3349475"/>
            <a:ext cx="45288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idact Gothic"/>
              <a:buNone/>
              <a:defRPr sz="16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idact Gothic"/>
              <a:buNone/>
              <a:defRPr sz="1800"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idact Gothic"/>
              <a:buNone/>
              <a:defRPr sz="1800"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idact Gothic"/>
              <a:buNone/>
              <a:defRPr sz="1800"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idact Gothic"/>
              <a:buNone/>
              <a:defRPr sz="1800"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idact Gothic"/>
              <a:buNone/>
              <a:defRPr sz="1800"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idact Gothic"/>
              <a:buNone/>
              <a:defRPr sz="1800"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idact Gothic"/>
              <a:buNone/>
              <a:defRPr sz="1800"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idact Gothic"/>
              <a:buNone/>
              <a:defRPr sz="1800"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15" name="Google Shape;15;p32"/>
          <p:cNvSpPr>
            <a:spLocks noGrp="1"/>
          </p:cNvSpPr>
          <p:nvPr>
            <p:ph type="pic" idx="2"/>
          </p:nvPr>
        </p:nvSpPr>
        <p:spPr>
          <a:xfrm>
            <a:off x="6524500" y="252900"/>
            <a:ext cx="2260500" cy="2619600"/>
          </a:xfrm>
          <a:prstGeom prst="rect">
            <a:avLst/>
          </a:prstGeom>
          <a:noFill/>
          <a:ln>
            <a:noFill/>
          </a:ln>
        </p:spPr>
      </p:sp>
      <p:sp>
        <p:nvSpPr>
          <p:cNvPr id="16" name="Google Shape;16;p32"/>
          <p:cNvSpPr>
            <a:spLocks noGrp="1"/>
          </p:cNvSpPr>
          <p:nvPr>
            <p:ph type="pic" idx="3"/>
          </p:nvPr>
        </p:nvSpPr>
        <p:spPr>
          <a:xfrm>
            <a:off x="5830975" y="2472075"/>
            <a:ext cx="2086800" cy="24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3"/>
          <p:cNvSpPr txBox="1">
            <a:spLocks noGrp="1"/>
          </p:cNvSpPr>
          <p:nvPr>
            <p:ph type="title"/>
          </p:nvPr>
        </p:nvSpPr>
        <p:spPr>
          <a:xfrm>
            <a:off x="811975" y="524550"/>
            <a:ext cx="4294800" cy="12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3"/>
          <p:cNvSpPr txBox="1">
            <a:spLocks noGrp="1"/>
          </p:cNvSpPr>
          <p:nvPr>
            <p:ph type="subTitle" idx="1"/>
          </p:nvPr>
        </p:nvSpPr>
        <p:spPr>
          <a:xfrm>
            <a:off x="811975" y="1819800"/>
            <a:ext cx="4294800" cy="22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0" name="Google Shape;20;p33"/>
          <p:cNvSpPr>
            <a:spLocks noGrp="1"/>
          </p:cNvSpPr>
          <p:nvPr>
            <p:ph type="pic" idx="2"/>
          </p:nvPr>
        </p:nvSpPr>
        <p:spPr>
          <a:xfrm>
            <a:off x="5227075" y="539500"/>
            <a:ext cx="3203700" cy="4064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7"/>
          <p:cNvSpPr txBox="1">
            <a:spLocks noGrp="1"/>
          </p:cNvSpPr>
          <p:nvPr>
            <p:ph type="title"/>
          </p:nvPr>
        </p:nvSpPr>
        <p:spPr>
          <a:xfrm>
            <a:off x="3948138" y="540000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7"/>
          <p:cNvSpPr txBox="1">
            <a:spLocks noGrp="1"/>
          </p:cNvSpPr>
          <p:nvPr>
            <p:ph type="subTitle" idx="1"/>
          </p:nvPr>
        </p:nvSpPr>
        <p:spPr>
          <a:xfrm>
            <a:off x="3948100" y="1973609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7"/>
          <p:cNvSpPr txBox="1"/>
          <p:nvPr/>
        </p:nvSpPr>
        <p:spPr>
          <a:xfrm>
            <a:off x="37755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000" b="1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CREDITS:</a:t>
            </a:r>
            <a:r>
              <a:rPr lang="es-MX" sz="10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This presentation template was created by </a:t>
            </a:r>
            <a:r>
              <a:rPr lang="es-MX" sz="1000" b="1" i="0" u="sng" strike="noStrike" cap="none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  <a:hlinkClick r:id="rId2"/>
              </a:rPr>
              <a:t>Slidesgo</a:t>
            </a:r>
            <a:r>
              <a:rPr lang="es-MX" sz="10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and includes icons by </a:t>
            </a:r>
            <a:r>
              <a:rPr lang="es-MX" sz="1000" b="1" i="0" u="sng" strike="noStrike" cap="none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  <a:hlinkClick r:id="rId3"/>
              </a:rPr>
              <a:t>Flaticon</a:t>
            </a:r>
            <a:r>
              <a:rPr lang="es-MX" sz="10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and infographics &amp; images by </a:t>
            </a:r>
            <a:r>
              <a:rPr lang="es-MX" sz="1000" b="1" i="0" u="sng" strike="noStrike" cap="none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  <a:hlinkClick r:id="rId4"/>
              </a:rPr>
              <a:t>Freepik</a:t>
            </a:r>
            <a:r>
              <a:rPr lang="es-MX" sz="1000" b="0" i="0" u="sng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endParaRPr sz="1000" b="1" i="0" u="sng" strike="noStrike" cap="non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25" name="Google Shape;25;p37"/>
          <p:cNvSpPr>
            <a:spLocks noGrp="1"/>
          </p:cNvSpPr>
          <p:nvPr>
            <p:ph type="pic" idx="2"/>
          </p:nvPr>
        </p:nvSpPr>
        <p:spPr>
          <a:xfrm>
            <a:off x="1733675" y="585700"/>
            <a:ext cx="2068500" cy="22158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37"/>
          <p:cNvSpPr>
            <a:spLocks noGrp="1"/>
          </p:cNvSpPr>
          <p:nvPr>
            <p:ph type="pic" idx="3"/>
          </p:nvPr>
        </p:nvSpPr>
        <p:spPr>
          <a:xfrm>
            <a:off x="535775" y="2342000"/>
            <a:ext cx="2068500" cy="22158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7" name="Google Shape;27;p37"/>
          <p:cNvGrpSpPr/>
          <p:nvPr/>
        </p:nvGrpSpPr>
        <p:grpSpPr>
          <a:xfrm>
            <a:off x="-103600" y="-184096"/>
            <a:ext cx="2170800" cy="723600"/>
            <a:chOff x="12850" y="1447250"/>
            <a:chExt cx="2170800" cy="723600"/>
          </a:xfrm>
        </p:grpSpPr>
        <p:sp>
          <p:nvSpPr>
            <p:cNvPr id="28" name="Google Shape;28;p37"/>
            <p:cNvSpPr/>
            <p:nvPr/>
          </p:nvSpPr>
          <p:spPr>
            <a:xfrm>
              <a:off x="12850" y="1447250"/>
              <a:ext cx="723600" cy="723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37"/>
            <p:cNvSpPr/>
            <p:nvPr/>
          </p:nvSpPr>
          <p:spPr>
            <a:xfrm>
              <a:off x="736450" y="1447250"/>
              <a:ext cx="723600" cy="723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7"/>
            <p:cNvSpPr/>
            <p:nvPr/>
          </p:nvSpPr>
          <p:spPr>
            <a:xfrm>
              <a:off x="1460050" y="1447250"/>
              <a:ext cx="723600" cy="723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" name="Google Shape;31;p37"/>
          <p:cNvGrpSpPr/>
          <p:nvPr/>
        </p:nvGrpSpPr>
        <p:grpSpPr>
          <a:xfrm>
            <a:off x="6973200" y="4502904"/>
            <a:ext cx="2170800" cy="723600"/>
            <a:chOff x="12850" y="1447250"/>
            <a:chExt cx="2170800" cy="723600"/>
          </a:xfrm>
        </p:grpSpPr>
        <p:sp>
          <p:nvSpPr>
            <p:cNvPr id="32" name="Google Shape;32;p37"/>
            <p:cNvSpPr/>
            <p:nvPr/>
          </p:nvSpPr>
          <p:spPr>
            <a:xfrm>
              <a:off x="12850" y="1447250"/>
              <a:ext cx="723600" cy="723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7"/>
            <p:cNvSpPr/>
            <p:nvPr/>
          </p:nvSpPr>
          <p:spPr>
            <a:xfrm>
              <a:off x="736450" y="1447250"/>
              <a:ext cx="723600" cy="723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7"/>
            <p:cNvSpPr/>
            <p:nvPr/>
          </p:nvSpPr>
          <p:spPr>
            <a:xfrm>
              <a:off x="1460050" y="1447250"/>
              <a:ext cx="723600" cy="723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4"/>
          <p:cNvSpPr txBox="1">
            <a:spLocks noGrp="1"/>
          </p:cNvSpPr>
          <p:nvPr>
            <p:ph type="title"/>
          </p:nvPr>
        </p:nvSpPr>
        <p:spPr>
          <a:xfrm>
            <a:off x="5368525" y="1710425"/>
            <a:ext cx="3057300" cy="21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7" name="Google Shape;37;p34"/>
          <p:cNvSpPr txBox="1">
            <a:spLocks noGrp="1"/>
          </p:cNvSpPr>
          <p:nvPr>
            <p:ph type="title" idx="2"/>
          </p:nvPr>
        </p:nvSpPr>
        <p:spPr>
          <a:xfrm>
            <a:off x="6913800" y="828050"/>
            <a:ext cx="14745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34"/>
          <p:cNvSpPr>
            <a:spLocks noGrp="1"/>
          </p:cNvSpPr>
          <p:nvPr>
            <p:ph type="pic" idx="3"/>
          </p:nvPr>
        </p:nvSpPr>
        <p:spPr>
          <a:xfrm>
            <a:off x="713225" y="1996833"/>
            <a:ext cx="1946100" cy="2580000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34"/>
          <p:cNvSpPr>
            <a:spLocks noGrp="1"/>
          </p:cNvSpPr>
          <p:nvPr>
            <p:ph type="pic" idx="4"/>
          </p:nvPr>
        </p:nvSpPr>
        <p:spPr>
          <a:xfrm>
            <a:off x="2470950" y="656661"/>
            <a:ext cx="2553600" cy="2514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8"/>
          <p:cNvSpPr txBox="1">
            <a:spLocks noGrp="1"/>
          </p:cNvSpPr>
          <p:nvPr>
            <p:ph type="title" idx="2"/>
          </p:nvPr>
        </p:nvSpPr>
        <p:spPr>
          <a:xfrm>
            <a:off x="720000" y="148088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6" name="Google Shape;46;p38"/>
          <p:cNvSpPr txBox="1">
            <a:spLocks noGrp="1"/>
          </p:cNvSpPr>
          <p:nvPr>
            <p:ph type="title" idx="3"/>
          </p:nvPr>
        </p:nvSpPr>
        <p:spPr>
          <a:xfrm>
            <a:off x="720000" y="2914291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7" name="Google Shape;47;p38"/>
          <p:cNvSpPr txBox="1">
            <a:spLocks noGrp="1"/>
          </p:cNvSpPr>
          <p:nvPr>
            <p:ph type="title" idx="4"/>
          </p:nvPr>
        </p:nvSpPr>
        <p:spPr>
          <a:xfrm>
            <a:off x="2658300" y="148088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8" name="Google Shape;48;p38"/>
          <p:cNvSpPr txBox="1">
            <a:spLocks noGrp="1"/>
          </p:cNvSpPr>
          <p:nvPr>
            <p:ph type="title" idx="5"/>
          </p:nvPr>
        </p:nvSpPr>
        <p:spPr>
          <a:xfrm>
            <a:off x="2658300" y="2914291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9" name="Google Shape;49;p38"/>
          <p:cNvSpPr txBox="1">
            <a:spLocks noGrp="1"/>
          </p:cNvSpPr>
          <p:nvPr>
            <p:ph type="title" idx="6"/>
          </p:nvPr>
        </p:nvSpPr>
        <p:spPr>
          <a:xfrm>
            <a:off x="4749000" y="148088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0" name="Google Shape;50;p38"/>
          <p:cNvSpPr txBox="1">
            <a:spLocks noGrp="1"/>
          </p:cNvSpPr>
          <p:nvPr>
            <p:ph type="title" idx="7"/>
          </p:nvPr>
        </p:nvSpPr>
        <p:spPr>
          <a:xfrm>
            <a:off x="4749000" y="2914291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1" name="Google Shape;51;p38"/>
          <p:cNvSpPr txBox="1">
            <a:spLocks noGrp="1"/>
          </p:cNvSpPr>
          <p:nvPr>
            <p:ph type="subTitle" idx="1"/>
          </p:nvPr>
        </p:nvSpPr>
        <p:spPr>
          <a:xfrm>
            <a:off x="720000" y="2035225"/>
            <a:ext cx="1984200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 b="1">
                <a:solidFill>
                  <a:schemeClr val="dk1"/>
                </a:solidFill>
                <a:latin typeface="Ruda"/>
                <a:ea typeface="Ruda"/>
                <a:cs typeface="Ruda"/>
                <a:sym typeface="Rud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2" name="Google Shape;52;p38"/>
          <p:cNvSpPr txBox="1">
            <a:spLocks noGrp="1"/>
          </p:cNvSpPr>
          <p:nvPr>
            <p:ph type="subTitle" idx="8"/>
          </p:nvPr>
        </p:nvSpPr>
        <p:spPr>
          <a:xfrm>
            <a:off x="2656200" y="2035225"/>
            <a:ext cx="1986900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 b="1">
                <a:solidFill>
                  <a:schemeClr val="dk1"/>
                </a:solidFill>
                <a:latin typeface="Ruda"/>
                <a:ea typeface="Ruda"/>
                <a:cs typeface="Ruda"/>
                <a:sym typeface="Rud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3" name="Google Shape;53;p38"/>
          <p:cNvSpPr txBox="1">
            <a:spLocks noGrp="1"/>
          </p:cNvSpPr>
          <p:nvPr>
            <p:ph type="subTitle" idx="9"/>
          </p:nvPr>
        </p:nvSpPr>
        <p:spPr>
          <a:xfrm>
            <a:off x="4749000" y="2035225"/>
            <a:ext cx="1984200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 b="1">
                <a:solidFill>
                  <a:schemeClr val="dk1"/>
                </a:solidFill>
                <a:latin typeface="Ruda"/>
                <a:ea typeface="Ruda"/>
                <a:cs typeface="Ruda"/>
                <a:sym typeface="Rud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" name="Google Shape;54;p38"/>
          <p:cNvSpPr txBox="1">
            <a:spLocks noGrp="1"/>
          </p:cNvSpPr>
          <p:nvPr>
            <p:ph type="subTitle" idx="13"/>
          </p:nvPr>
        </p:nvSpPr>
        <p:spPr>
          <a:xfrm>
            <a:off x="720000" y="3468700"/>
            <a:ext cx="1984200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 b="1">
                <a:solidFill>
                  <a:schemeClr val="dk1"/>
                </a:solidFill>
                <a:latin typeface="Ruda"/>
                <a:ea typeface="Ruda"/>
                <a:cs typeface="Ruda"/>
                <a:sym typeface="Rud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5" name="Google Shape;55;p38"/>
          <p:cNvSpPr txBox="1">
            <a:spLocks noGrp="1"/>
          </p:cNvSpPr>
          <p:nvPr>
            <p:ph type="subTitle" idx="14"/>
          </p:nvPr>
        </p:nvSpPr>
        <p:spPr>
          <a:xfrm>
            <a:off x="2656950" y="3468700"/>
            <a:ext cx="2170800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 b="1">
                <a:solidFill>
                  <a:schemeClr val="dk1"/>
                </a:solidFill>
                <a:latin typeface="Ruda"/>
                <a:ea typeface="Ruda"/>
                <a:cs typeface="Ruda"/>
                <a:sym typeface="Rud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6" name="Google Shape;56;p38"/>
          <p:cNvSpPr txBox="1">
            <a:spLocks noGrp="1"/>
          </p:cNvSpPr>
          <p:nvPr>
            <p:ph type="subTitle" idx="15"/>
          </p:nvPr>
        </p:nvSpPr>
        <p:spPr>
          <a:xfrm>
            <a:off x="4749000" y="3468700"/>
            <a:ext cx="1984200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 b="1">
                <a:solidFill>
                  <a:schemeClr val="dk1"/>
                </a:solidFill>
                <a:latin typeface="Ruda"/>
                <a:ea typeface="Ruda"/>
                <a:cs typeface="Ruda"/>
                <a:sym typeface="Rud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7" name="Google Shape;57;p38"/>
          <p:cNvSpPr>
            <a:spLocks noGrp="1"/>
          </p:cNvSpPr>
          <p:nvPr>
            <p:ph type="pic" idx="16"/>
          </p:nvPr>
        </p:nvSpPr>
        <p:spPr>
          <a:xfrm>
            <a:off x="6332700" y="943650"/>
            <a:ext cx="2091300" cy="3256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9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0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0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1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41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42"/>
          <p:cNvGrpSpPr/>
          <p:nvPr/>
        </p:nvGrpSpPr>
        <p:grpSpPr>
          <a:xfrm>
            <a:off x="0" y="4604004"/>
            <a:ext cx="2170800" cy="723600"/>
            <a:chOff x="12850" y="1447250"/>
            <a:chExt cx="2170800" cy="723600"/>
          </a:xfrm>
        </p:grpSpPr>
        <p:sp>
          <p:nvSpPr>
            <p:cNvPr id="68" name="Google Shape;68;p42"/>
            <p:cNvSpPr/>
            <p:nvPr/>
          </p:nvSpPr>
          <p:spPr>
            <a:xfrm>
              <a:off x="12850" y="1447250"/>
              <a:ext cx="723600" cy="723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42"/>
            <p:cNvSpPr/>
            <p:nvPr/>
          </p:nvSpPr>
          <p:spPr>
            <a:xfrm>
              <a:off x="736450" y="1447250"/>
              <a:ext cx="723600" cy="723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42"/>
            <p:cNvSpPr/>
            <p:nvPr/>
          </p:nvSpPr>
          <p:spPr>
            <a:xfrm>
              <a:off x="1460050" y="1447250"/>
              <a:ext cx="723600" cy="723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" name="Google Shape;71;p42"/>
          <p:cNvGrpSpPr/>
          <p:nvPr/>
        </p:nvGrpSpPr>
        <p:grpSpPr>
          <a:xfrm>
            <a:off x="6973200" y="-718796"/>
            <a:ext cx="2170800" cy="2170850"/>
            <a:chOff x="12850" y="0"/>
            <a:chExt cx="2170800" cy="2170850"/>
          </a:xfrm>
        </p:grpSpPr>
        <p:sp>
          <p:nvSpPr>
            <p:cNvPr id="72" name="Google Shape;72;p42"/>
            <p:cNvSpPr/>
            <p:nvPr/>
          </p:nvSpPr>
          <p:spPr>
            <a:xfrm>
              <a:off x="12850" y="0"/>
              <a:ext cx="723600" cy="723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42"/>
            <p:cNvSpPr/>
            <p:nvPr/>
          </p:nvSpPr>
          <p:spPr>
            <a:xfrm>
              <a:off x="736450" y="0"/>
              <a:ext cx="723600" cy="723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42"/>
            <p:cNvSpPr/>
            <p:nvPr/>
          </p:nvSpPr>
          <p:spPr>
            <a:xfrm>
              <a:off x="1460050" y="0"/>
              <a:ext cx="723600" cy="723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42"/>
            <p:cNvSpPr/>
            <p:nvPr/>
          </p:nvSpPr>
          <p:spPr>
            <a:xfrm>
              <a:off x="12850" y="723650"/>
              <a:ext cx="723600" cy="723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42"/>
            <p:cNvSpPr/>
            <p:nvPr/>
          </p:nvSpPr>
          <p:spPr>
            <a:xfrm>
              <a:off x="736450" y="723650"/>
              <a:ext cx="723600" cy="723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42"/>
            <p:cNvSpPr/>
            <p:nvPr/>
          </p:nvSpPr>
          <p:spPr>
            <a:xfrm>
              <a:off x="1460050" y="723650"/>
              <a:ext cx="723600" cy="723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42"/>
            <p:cNvSpPr/>
            <p:nvPr/>
          </p:nvSpPr>
          <p:spPr>
            <a:xfrm>
              <a:off x="12850" y="1447250"/>
              <a:ext cx="723600" cy="723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42"/>
            <p:cNvSpPr/>
            <p:nvPr/>
          </p:nvSpPr>
          <p:spPr>
            <a:xfrm>
              <a:off x="736450" y="1447250"/>
              <a:ext cx="723600" cy="723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42"/>
            <p:cNvSpPr/>
            <p:nvPr/>
          </p:nvSpPr>
          <p:spPr>
            <a:xfrm>
              <a:off x="1460050" y="1447250"/>
              <a:ext cx="723600" cy="723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43"/>
          <p:cNvGrpSpPr/>
          <p:nvPr/>
        </p:nvGrpSpPr>
        <p:grpSpPr>
          <a:xfrm>
            <a:off x="6973200" y="-184096"/>
            <a:ext cx="2170800" cy="723600"/>
            <a:chOff x="12850" y="1447250"/>
            <a:chExt cx="2170800" cy="723600"/>
          </a:xfrm>
        </p:grpSpPr>
        <p:sp>
          <p:nvSpPr>
            <p:cNvPr id="83" name="Google Shape;83;p43"/>
            <p:cNvSpPr/>
            <p:nvPr/>
          </p:nvSpPr>
          <p:spPr>
            <a:xfrm>
              <a:off x="12850" y="1447250"/>
              <a:ext cx="723600" cy="723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43"/>
            <p:cNvSpPr/>
            <p:nvPr/>
          </p:nvSpPr>
          <p:spPr>
            <a:xfrm>
              <a:off x="736450" y="1447250"/>
              <a:ext cx="723600" cy="723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43"/>
            <p:cNvSpPr/>
            <p:nvPr/>
          </p:nvSpPr>
          <p:spPr>
            <a:xfrm>
              <a:off x="1460050" y="1447250"/>
              <a:ext cx="723600" cy="723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p43"/>
          <p:cNvSpPr/>
          <p:nvPr/>
        </p:nvSpPr>
        <p:spPr>
          <a:xfrm>
            <a:off x="333925" y="4690450"/>
            <a:ext cx="248100" cy="24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3"/>
          <p:cNvSpPr/>
          <p:nvPr/>
        </p:nvSpPr>
        <p:spPr>
          <a:xfrm>
            <a:off x="255050" y="4516400"/>
            <a:ext cx="212100" cy="212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da Black"/>
              <a:buNone/>
              <a:defRPr sz="3000" b="0" i="0" u="none" strike="noStrike" cap="none">
                <a:solidFill>
                  <a:schemeClr val="dk1"/>
                </a:solidFill>
                <a:latin typeface="Ruda Black"/>
                <a:ea typeface="Ruda Black"/>
                <a:cs typeface="Ruda Black"/>
                <a:sym typeface="Ruda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da Black"/>
              <a:buNone/>
              <a:defRPr sz="3000" b="0" i="0" u="none" strike="noStrike" cap="none">
                <a:solidFill>
                  <a:schemeClr val="dk1"/>
                </a:solidFill>
                <a:latin typeface="Ruda Black"/>
                <a:ea typeface="Ruda Black"/>
                <a:cs typeface="Ruda Black"/>
                <a:sym typeface="Ruda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da Black"/>
              <a:buNone/>
              <a:defRPr sz="3000" b="0" i="0" u="none" strike="noStrike" cap="none">
                <a:solidFill>
                  <a:schemeClr val="dk1"/>
                </a:solidFill>
                <a:latin typeface="Ruda Black"/>
                <a:ea typeface="Ruda Black"/>
                <a:cs typeface="Ruda Black"/>
                <a:sym typeface="Ruda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da Black"/>
              <a:buNone/>
              <a:defRPr sz="3000" b="0" i="0" u="none" strike="noStrike" cap="none">
                <a:solidFill>
                  <a:schemeClr val="dk1"/>
                </a:solidFill>
                <a:latin typeface="Ruda Black"/>
                <a:ea typeface="Ruda Black"/>
                <a:cs typeface="Ruda Black"/>
                <a:sym typeface="Ruda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da Black"/>
              <a:buNone/>
              <a:defRPr sz="3000" b="0" i="0" u="none" strike="noStrike" cap="none">
                <a:solidFill>
                  <a:schemeClr val="dk1"/>
                </a:solidFill>
                <a:latin typeface="Ruda Black"/>
                <a:ea typeface="Ruda Black"/>
                <a:cs typeface="Ruda Black"/>
                <a:sym typeface="Ruda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da Black"/>
              <a:buNone/>
              <a:defRPr sz="3000" b="0" i="0" u="none" strike="noStrike" cap="none">
                <a:solidFill>
                  <a:schemeClr val="dk1"/>
                </a:solidFill>
                <a:latin typeface="Ruda Black"/>
                <a:ea typeface="Ruda Black"/>
                <a:cs typeface="Ruda Black"/>
                <a:sym typeface="Ruda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da Black"/>
              <a:buNone/>
              <a:defRPr sz="3000" b="0" i="0" u="none" strike="noStrike" cap="none">
                <a:solidFill>
                  <a:schemeClr val="dk1"/>
                </a:solidFill>
                <a:latin typeface="Ruda Black"/>
                <a:ea typeface="Ruda Black"/>
                <a:cs typeface="Ruda Black"/>
                <a:sym typeface="Ruda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da Black"/>
              <a:buNone/>
              <a:defRPr sz="3000" b="0" i="0" u="none" strike="noStrike" cap="none">
                <a:solidFill>
                  <a:schemeClr val="dk1"/>
                </a:solidFill>
                <a:latin typeface="Ruda Black"/>
                <a:ea typeface="Ruda Black"/>
                <a:cs typeface="Ruda Black"/>
                <a:sym typeface="Ruda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uda Black"/>
              <a:buNone/>
              <a:defRPr sz="3000" b="0" i="0" u="none" strike="noStrike" cap="none">
                <a:solidFill>
                  <a:schemeClr val="dk1"/>
                </a:solidFill>
                <a:latin typeface="Ruda Black"/>
                <a:ea typeface="Ruda Black"/>
                <a:cs typeface="Ruda Black"/>
                <a:sym typeface="Ruda Black"/>
              </a:defRPr>
            </a:lvl9pPr>
          </a:lstStyle>
          <a:p>
            <a:endParaRPr/>
          </a:p>
        </p:txBody>
      </p:sp>
      <p:sp>
        <p:nvSpPr>
          <p:cNvPr id="7" name="Google Shape;7;p30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  <a:defRPr sz="12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○"/>
              <a:defRPr sz="12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■"/>
              <a:defRPr sz="12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  <a:defRPr sz="12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○"/>
              <a:defRPr sz="12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■"/>
              <a:defRPr sz="12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  <a:defRPr sz="12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○"/>
              <a:defRPr sz="12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■"/>
              <a:defRPr sz="12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"/>
          <p:cNvGrpSpPr/>
          <p:nvPr/>
        </p:nvGrpSpPr>
        <p:grpSpPr>
          <a:xfrm>
            <a:off x="-327375" y="3206044"/>
            <a:ext cx="2170800" cy="2170850"/>
            <a:chOff x="12850" y="0"/>
            <a:chExt cx="2170800" cy="2170850"/>
          </a:xfrm>
          <a:blipFill>
            <a:blip r:embed="rId3"/>
            <a:tile tx="0" ty="0" sx="100000" sy="100000" flip="none" algn="tl"/>
          </a:blipFill>
        </p:grpSpPr>
        <p:sp>
          <p:nvSpPr>
            <p:cNvPr id="93" name="Google Shape;93;p1"/>
            <p:cNvSpPr/>
            <p:nvPr/>
          </p:nvSpPr>
          <p:spPr>
            <a:xfrm>
              <a:off x="12850" y="0"/>
              <a:ext cx="723600" cy="7236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736450" y="0"/>
              <a:ext cx="723600" cy="7236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1460050" y="0"/>
              <a:ext cx="723600" cy="7236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12850" y="723650"/>
              <a:ext cx="723600" cy="7236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736450" y="723650"/>
              <a:ext cx="723600" cy="7236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1460050" y="723650"/>
              <a:ext cx="723600" cy="7236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12850" y="1447250"/>
              <a:ext cx="723600" cy="7236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736450" y="1447250"/>
              <a:ext cx="723600" cy="7236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1460050" y="1447250"/>
              <a:ext cx="723600" cy="7236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" name="Google Shape;102;p1"/>
          <p:cNvGrpSpPr/>
          <p:nvPr/>
        </p:nvGrpSpPr>
        <p:grpSpPr>
          <a:xfrm>
            <a:off x="7120157" y="-171720"/>
            <a:ext cx="2170800" cy="723600"/>
            <a:chOff x="12850" y="1447250"/>
            <a:chExt cx="2170800" cy="723600"/>
          </a:xfrm>
          <a:blipFill>
            <a:blip r:embed="rId3"/>
            <a:tile tx="0" ty="0" sx="100000" sy="100000" flip="none" algn="tl"/>
          </a:blipFill>
        </p:grpSpPr>
        <p:sp>
          <p:nvSpPr>
            <p:cNvPr id="103" name="Google Shape;103;p1"/>
            <p:cNvSpPr/>
            <p:nvPr/>
          </p:nvSpPr>
          <p:spPr>
            <a:xfrm>
              <a:off x="12850" y="1447250"/>
              <a:ext cx="723600" cy="7236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736450" y="1447250"/>
              <a:ext cx="723600" cy="7236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1460050" y="1447250"/>
              <a:ext cx="723600" cy="7236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" name="Google Shape;106;p1"/>
          <p:cNvSpPr/>
          <p:nvPr/>
        </p:nvSpPr>
        <p:spPr>
          <a:xfrm>
            <a:off x="4112264" y="4665079"/>
            <a:ext cx="212100" cy="212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56408" y="61965"/>
            <a:ext cx="475800" cy="47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3475" y="115125"/>
            <a:ext cx="1289950" cy="155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"/>
          <p:cNvSpPr txBox="1">
            <a:spLocks noGrp="1"/>
          </p:cNvSpPr>
          <p:nvPr>
            <p:ph type="title"/>
          </p:nvPr>
        </p:nvSpPr>
        <p:spPr>
          <a:xfrm>
            <a:off x="1252775" y="629502"/>
            <a:ext cx="7230000" cy="48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br>
              <a:rPr lang="es-MX" sz="1500" dirty="0"/>
            </a:br>
            <a:r>
              <a:rPr lang="es-MX" sz="1500" b="1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UNIVERSIDAD AUTÓNOMA DE LA CIUDAD DE MÉXICO (UACM).</a:t>
            </a:r>
            <a:br>
              <a:rPr lang="es-MX" sz="1500" b="1" dirty="0">
                <a:latin typeface="Arial"/>
                <a:ea typeface="Arial"/>
                <a:cs typeface="Arial"/>
                <a:sym typeface="Arial"/>
              </a:rPr>
            </a:br>
            <a:r>
              <a:rPr lang="es-MX" sz="1500" b="1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Plantel</a:t>
            </a:r>
            <a:r>
              <a:rPr lang="es-MX" sz="15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s-MX" sz="15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Cuautepec</a:t>
            </a:r>
            <a:r>
              <a:rPr lang="es-MX" sz="15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-MX" sz="1500" b="1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s-MX" sz="1500" b="1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MX" sz="2300" b="1" dirty="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Presentación 1.</a:t>
            </a:r>
            <a:endParaRPr sz="2300" b="1" dirty="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MX" sz="1700" b="1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SISTEMA DE ASIGNACIÓN DE HORARIOS DE PROFESORES</a:t>
            </a:r>
            <a:endParaRPr sz="2800" b="1" dirty="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600"/>
              <a:buNone/>
            </a:pPr>
            <a:r>
              <a:rPr lang="es-MX" sz="1700" b="1" i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Curso: Diseño de software</a:t>
            </a:r>
            <a:endParaRPr sz="15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br>
              <a:rPr lang="es-MX" sz="1500" b="1" dirty="0">
                <a:latin typeface="Arial"/>
                <a:ea typeface="Arial"/>
                <a:cs typeface="Arial"/>
                <a:sym typeface="Arial"/>
              </a:rPr>
            </a:br>
            <a:r>
              <a:rPr lang="es-MX" sz="1500" b="1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Profesor: </a:t>
            </a:r>
            <a:r>
              <a:rPr lang="es-MX" sz="1500" b="1" dirty="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Máximo Eduardo Sánchez Gutiérrez</a:t>
            </a:r>
            <a:r>
              <a:rPr lang="es-MX" sz="1500" b="1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-MX" sz="1400" b="1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1" i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endParaRPr sz="14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endParaRPr sz="14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endParaRPr sz="14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endParaRPr sz="14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s-MX" sz="1500" b="1" dirty="0">
                <a:latin typeface="Arial"/>
                <a:ea typeface="Arial"/>
                <a:cs typeface="Arial"/>
                <a:sym typeface="Arial"/>
              </a:rPr>
              <a:t>                              </a:t>
            </a:r>
            <a:r>
              <a:rPr lang="es-MX" sz="1500" b="1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Alumno:</a:t>
            </a:r>
            <a:endParaRPr sz="1400" b="1" dirty="0">
              <a:latin typeface="Arial"/>
              <a:ea typeface="Arial"/>
              <a:cs typeface="Arial"/>
              <a:sym typeface="Arial"/>
            </a:endParaRPr>
          </a:p>
          <a:p>
            <a:pPr marL="137160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s-MX" sz="1400" b="1" dirty="0" err="1">
                <a:latin typeface="Arial"/>
                <a:ea typeface="Arial"/>
                <a:cs typeface="Arial"/>
                <a:sym typeface="Arial"/>
              </a:rPr>
              <a:t>Cuapantecatl</a:t>
            </a:r>
            <a:r>
              <a:rPr lang="es-MX" sz="1400" b="1" dirty="0">
                <a:latin typeface="Arial"/>
                <a:ea typeface="Arial"/>
                <a:cs typeface="Arial"/>
                <a:sym typeface="Arial"/>
              </a:rPr>
              <a:t> Ruiz </a:t>
            </a:r>
            <a:r>
              <a:rPr lang="es-MX" sz="1400" b="1" dirty="0" err="1">
                <a:latin typeface="Arial"/>
                <a:ea typeface="Arial"/>
                <a:cs typeface="Arial"/>
                <a:sym typeface="Arial"/>
              </a:rPr>
              <a:t>Raul</a:t>
            </a:r>
            <a:r>
              <a:rPr lang="es-MX" sz="1400" b="1" dirty="0">
                <a:latin typeface="Arial"/>
                <a:ea typeface="Arial"/>
                <a:cs typeface="Arial"/>
                <a:sym typeface="Arial"/>
              </a:rPr>
              <a:t> Irving.</a:t>
            </a:r>
            <a:endParaRPr sz="14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s-MX" sz="15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</a:t>
            </a:r>
            <a:r>
              <a:rPr lang="es-MX" sz="1500" b="1" dirty="0">
                <a:latin typeface="Arial"/>
                <a:ea typeface="Arial"/>
                <a:cs typeface="Arial"/>
                <a:sym typeface="Arial"/>
              </a:rPr>
              <a:t>                              						FECHA 22/05/2025</a:t>
            </a:r>
            <a:endParaRPr sz="15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endParaRPr sz="15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endParaRPr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0" name="Google Shape;110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5200" y="3051852"/>
            <a:ext cx="3105150" cy="8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g30c1464f5ba_0_0"/>
          <p:cNvGrpSpPr/>
          <p:nvPr/>
        </p:nvGrpSpPr>
        <p:grpSpPr>
          <a:xfrm>
            <a:off x="0" y="2969279"/>
            <a:ext cx="2170800" cy="2170850"/>
            <a:chOff x="12850" y="0"/>
            <a:chExt cx="2170800" cy="2170850"/>
          </a:xfrm>
        </p:grpSpPr>
        <p:sp>
          <p:nvSpPr>
            <p:cNvPr id="116" name="Google Shape;116;g30c1464f5ba_0_0"/>
            <p:cNvSpPr/>
            <p:nvPr/>
          </p:nvSpPr>
          <p:spPr>
            <a:xfrm>
              <a:off x="12850" y="0"/>
              <a:ext cx="723600" cy="723600"/>
            </a:xfrm>
            <a:prstGeom prst="ellipse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g30c1464f5ba_0_0"/>
            <p:cNvSpPr/>
            <p:nvPr/>
          </p:nvSpPr>
          <p:spPr>
            <a:xfrm>
              <a:off x="736450" y="0"/>
              <a:ext cx="723600" cy="723600"/>
            </a:xfrm>
            <a:prstGeom prst="ellipse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g30c1464f5ba_0_0"/>
            <p:cNvSpPr/>
            <p:nvPr/>
          </p:nvSpPr>
          <p:spPr>
            <a:xfrm>
              <a:off x="1460050" y="0"/>
              <a:ext cx="723600" cy="723600"/>
            </a:xfrm>
            <a:prstGeom prst="ellipse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g30c1464f5ba_0_0"/>
            <p:cNvSpPr/>
            <p:nvPr/>
          </p:nvSpPr>
          <p:spPr>
            <a:xfrm>
              <a:off x="12850" y="723650"/>
              <a:ext cx="723600" cy="723600"/>
            </a:xfrm>
            <a:prstGeom prst="ellipse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g30c1464f5ba_0_0"/>
            <p:cNvSpPr/>
            <p:nvPr/>
          </p:nvSpPr>
          <p:spPr>
            <a:xfrm>
              <a:off x="736450" y="723650"/>
              <a:ext cx="723600" cy="723600"/>
            </a:xfrm>
            <a:prstGeom prst="ellipse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g30c1464f5ba_0_0"/>
            <p:cNvSpPr/>
            <p:nvPr/>
          </p:nvSpPr>
          <p:spPr>
            <a:xfrm>
              <a:off x="1460050" y="723650"/>
              <a:ext cx="723600" cy="723600"/>
            </a:xfrm>
            <a:prstGeom prst="ellipse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g30c1464f5ba_0_0"/>
            <p:cNvSpPr/>
            <p:nvPr/>
          </p:nvSpPr>
          <p:spPr>
            <a:xfrm>
              <a:off x="12850" y="1447250"/>
              <a:ext cx="723600" cy="723600"/>
            </a:xfrm>
            <a:prstGeom prst="ellipse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g30c1464f5ba_0_0"/>
            <p:cNvSpPr/>
            <p:nvPr/>
          </p:nvSpPr>
          <p:spPr>
            <a:xfrm>
              <a:off x="736450" y="1447250"/>
              <a:ext cx="723600" cy="723600"/>
            </a:xfrm>
            <a:prstGeom prst="ellipse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g30c1464f5ba_0_0"/>
            <p:cNvSpPr/>
            <p:nvPr/>
          </p:nvSpPr>
          <p:spPr>
            <a:xfrm>
              <a:off x="1460050" y="1447250"/>
              <a:ext cx="723600" cy="723600"/>
            </a:xfrm>
            <a:prstGeom prst="ellipse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" name="Google Shape;125;g30c1464f5ba_0_0"/>
          <p:cNvGrpSpPr/>
          <p:nvPr/>
        </p:nvGrpSpPr>
        <p:grpSpPr>
          <a:xfrm>
            <a:off x="6973200" y="-94096"/>
            <a:ext cx="2170800" cy="723600"/>
            <a:chOff x="12850" y="1447250"/>
            <a:chExt cx="2170800" cy="723600"/>
          </a:xfrm>
        </p:grpSpPr>
        <p:sp>
          <p:nvSpPr>
            <p:cNvPr id="126" name="Google Shape;126;g30c1464f5ba_0_0"/>
            <p:cNvSpPr/>
            <p:nvPr/>
          </p:nvSpPr>
          <p:spPr>
            <a:xfrm>
              <a:off x="12850" y="1447250"/>
              <a:ext cx="723600" cy="723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g30c1464f5ba_0_0"/>
            <p:cNvSpPr/>
            <p:nvPr/>
          </p:nvSpPr>
          <p:spPr>
            <a:xfrm>
              <a:off x="736450" y="1447250"/>
              <a:ext cx="723600" cy="723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g30c1464f5ba_0_0"/>
            <p:cNvSpPr/>
            <p:nvPr/>
          </p:nvSpPr>
          <p:spPr>
            <a:xfrm>
              <a:off x="1460050" y="1447250"/>
              <a:ext cx="723600" cy="723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29;g30c1464f5ba_0_0"/>
          <p:cNvSpPr/>
          <p:nvPr/>
        </p:nvSpPr>
        <p:spPr>
          <a:xfrm>
            <a:off x="56408" y="61965"/>
            <a:ext cx="475800" cy="47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g30c1464f5b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3477" y="115130"/>
            <a:ext cx="1285953" cy="163379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0c1464f5ba_0_0"/>
          <p:cNvSpPr txBox="1">
            <a:spLocks noGrp="1"/>
          </p:cNvSpPr>
          <p:nvPr>
            <p:ph type="title"/>
          </p:nvPr>
        </p:nvSpPr>
        <p:spPr>
          <a:xfrm>
            <a:off x="2170800" y="61975"/>
            <a:ext cx="6718500" cy="49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dirty="0">
                <a:latin typeface="Arial"/>
                <a:ea typeface="Arial"/>
                <a:cs typeface="Arial"/>
                <a:sym typeface="Arial"/>
              </a:rPr>
              <a:t>ÍNDICE</a:t>
            </a:r>
            <a:endParaRPr sz="16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s-MX" sz="1800" b="1" dirty="0">
                <a:latin typeface="Arial"/>
                <a:ea typeface="Arial"/>
                <a:cs typeface="Arial"/>
                <a:sym typeface="Arial"/>
              </a:rPr>
              <a:t>TÍTULO Y PROPÓSITO DEL PROYECTO</a:t>
            </a:r>
            <a:endParaRPr sz="18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s-MX" sz="1800" b="1" dirty="0">
                <a:latin typeface="Arial"/>
                <a:ea typeface="Arial"/>
                <a:cs typeface="Arial"/>
                <a:sym typeface="Arial"/>
              </a:rPr>
              <a:t>INTRODUCCIÓN AL DISEÑO DEL SISTEMA</a:t>
            </a:r>
            <a:endParaRPr sz="18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s-MX" sz="1800" b="1" dirty="0">
                <a:latin typeface="Arial"/>
                <a:ea typeface="Arial"/>
                <a:cs typeface="Arial"/>
                <a:sym typeface="Arial"/>
              </a:rPr>
              <a:t>CONTEXTO GENERAL</a:t>
            </a:r>
            <a:endParaRPr sz="18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s-MX" sz="1800" b="1" dirty="0">
                <a:latin typeface="Arial"/>
                <a:ea typeface="Arial"/>
                <a:cs typeface="Arial"/>
                <a:sym typeface="Arial"/>
              </a:rPr>
              <a:t>CÓMO FUNCIONA EL SISTEMA</a:t>
            </a:r>
            <a:endParaRPr sz="18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s-MX" sz="1800" b="1" dirty="0">
                <a:latin typeface="Arial"/>
                <a:ea typeface="Arial"/>
                <a:cs typeface="Arial"/>
                <a:sym typeface="Arial"/>
              </a:rPr>
              <a:t>Tarea - Objetivo de la Implementación</a:t>
            </a:r>
            <a:endParaRPr sz="18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s-MX" sz="1800" b="1" dirty="0">
                <a:latin typeface="Arial"/>
                <a:ea typeface="Arial"/>
                <a:cs typeface="Arial"/>
                <a:sym typeface="Arial"/>
              </a:rPr>
              <a:t>Casos de uso</a:t>
            </a:r>
            <a:endParaRPr sz="18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s-MX" sz="1800" b="1" dirty="0">
                <a:latin typeface="Arial"/>
                <a:ea typeface="Arial"/>
                <a:cs typeface="Arial"/>
                <a:sym typeface="Arial"/>
              </a:rPr>
              <a:t>Implementación de Patrones</a:t>
            </a:r>
            <a:endParaRPr sz="18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s-MX" sz="1800" b="1" dirty="0">
                <a:latin typeface="Arial"/>
                <a:ea typeface="Arial"/>
                <a:cs typeface="Arial"/>
                <a:sym typeface="Arial"/>
              </a:rPr>
              <a:t>Interfaz</a:t>
            </a:r>
            <a:endParaRPr sz="18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s-MX" sz="1800" b="1" dirty="0">
                <a:latin typeface="Arial"/>
                <a:ea typeface="Arial"/>
                <a:cs typeface="Arial"/>
                <a:sym typeface="Arial"/>
              </a:rPr>
              <a:t>Diagrama de Estructura (Clases UML)</a:t>
            </a:r>
            <a:endParaRPr sz="18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s-MX" sz="1800" b="1" dirty="0">
                <a:latin typeface="Arial"/>
                <a:ea typeface="Arial"/>
                <a:cs typeface="Arial"/>
                <a:sym typeface="Arial"/>
              </a:rPr>
              <a:t>Interacción</a:t>
            </a:r>
            <a:endParaRPr sz="18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s-MX" sz="1800" b="1" dirty="0">
                <a:latin typeface="Arial"/>
                <a:ea typeface="Arial"/>
                <a:cs typeface="Arial"/>
                <a:sym typeface="Arial"/>
              </a:rPr>
              <a:t>Dinámica de estados</a:t>
            </a:r>
            <a:endParaRPr sz="18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s-MX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Lógica procedimental algorítmica</a:t>
            </a:r>
            <a:endParaRPr sz="18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s-MX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Conclusión y Próximos Pasos</a:t>
            </a:r>
            <a:endParaRPr sz="18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endParaRPr sz="14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31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-MX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1.- </a:t>
            </a:r>
            <a:r>
              <a:rPr lang="es-MX" b="1">
                <a:latin typeface="Arial"/>
                <a:ea typeface="Arial"/>
                <a:cs typeface="Arial"/>
                <a:sym typeface="Arial"/>
              </a:rPr>
              <a:t>TÍTULO Y PROPÓSITO DEL PROYECTO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-MX" b="1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SISTEMA DE ASIGNACIÓN DE HORARIOS DE PROFESORES</a:t>
            </a:r>
            <a:endParaRPr sz="29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44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s-MX" sz="13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¿Qué es?</a:t>
            </a:r>
            <a:br>
              <a:rPr lang="es-MX" sz="13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MX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 una plataforma tecnológica que ayuda a las universidades o escuelas a planear de forma automática los horarios de clase y las asignaciones de materias para los profesores.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44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MX" sz="13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¿Por qué lo hicimos?</a:t>
            </a:r>
            <a:br>
              <a:rPr lang="es-MX" sz="13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MX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Porqué organizar esto manualmente es complicado y suele haber errores: choques de horario, materias duplicadas o profesores con demasiadas clases.</a:t>
            </a:r>
            <a:endParaRPr sz="2200"/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83850" y="2439725"/>
            <a:ext cx="5360150" cy="2697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gallery dir="l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5a93474d8b_0_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31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-MX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2.- </a:t>
            </a:r>
            <a:r>
              <a:rPr lang="es-MX" b="1">
                <a:latin typeface="Arial"/>
                <a:ea typeface="Arial"/>
                <a:cs typeface="Arial"/>
                <a:sym typeface="Arial"/>
              </a:rPr>
              <a:t>INTRODUCCIÓN AL DISEÑO DEL SISTEMA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-MX" b="1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SISTEMA DE ASIGNACIÓN DE HORARIOS DE PROFESORES</a:t>
            </a:r>
            <a:endParaRPr sz="29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s-MX" sz="13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¿Cómo diseñamos esta solución?</a:t>
            </a:r>
            <a:br>
              <a:rPr lang="es-MX" sz="13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MX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Usamos una forma estructurada de representar el sistema desde varios puntos de vista. Esto nos permite visualizar </a:t>
            </a:r>
            <a:r>
              <a:rPr lang="es-MX" sz="13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cómo está construido</a:t>
            </a:r>
            <a:r>
              <a:rPr lang="es-MX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s-MX" sz="13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cómo se comporta</a:t>
            </a:r>
            <a:r>
              <a:rPr lang="es-MX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s-MX" sz="13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cómo se comunica con los usuarios</a:t>
            </a:r>
            <a:r>
              <a:rPr lang="es-MX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MX" sz="13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¿Para qué sirve esto?</a:t>
            </a:r>
            <a:br>
              <a:rPr lang="es-MX" sz="13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MX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Nos ayuda a asegurar que el sistema funcione correctamente, que sea fácil de entender, mantener, y mejorar en el futuro.</a:t>
            </a:r>
            <a:endParaRPr sz="15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g35a93474d8b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2642500"/>
            <a:ext cx="5734050" cy="18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gallery dir="l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182893e961_1_11"/>
          <p:cNvSpPr txBox="1">
            <a:spLocks noGrp="1"/>
          </p:cNvSpPr>
          <p:nvPr>
            <p:ph type="subTitle" idx="1"/>
          </p:nvPr>
        </p:nvSpPr>
        <p:spPr>
          <a:xfrm>
            <a:off x="0" y="-1"/>
            <a:ext cx="7569300" cy="508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-MX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3.- CONTEXTO GENERAL</a:t>
            </a:r>
            <a:endParaRPr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-MX" sz="2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MX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"Nuestro proyecto se centra en el desarrollo de un </a:t>
            </a:r>
            <a:r>
              <a:rPr lang="es-MX" sz="1200" b="1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SISTEMA DE ASIGNACIÓN DE HORARIOS DE PROFESORES</a:t>
            </a:r>
            <a:r>
              <a:rPr lang="es-MX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s-MX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Actualmente, la asignación de horarios y materias se realiza de forma manual, lo que genera varios problemas:</a:t>
            </a:r>
            <a:endParaRPr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¿Dónde se usa este sistema?</a:t>
            </a:r>
            <a:br>
              <a:rPr lang="es-MX" sz="12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MX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 una escuela o universidad.</a:t>
            </a:r>
            <a:endParaRPr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¿Quiénes lo usan?</a:t>
            </a:r>
            <a:endParaRPr sz="12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s-MX" sz="12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Administrador:</a:t>
            </a:r>
            <a:r>
              <a:rPr lang="es-MX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Registra profesores, materias, horarios y grupos.</a:t>
            </a:r>
            <a:endParaRPr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s-MX" sz="12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Profesor:</a:t>
            </a:r>
            <a:r>
              <a:rPr lang="es-MX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Consulta sus clases, materias asignadas y horarios.</a:t>
            </a:r>
            <a:endParaRPr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¿Qué busca resolver?</a:t>
            </a:r>
            <a:br>
              <a:rPr lang="es-MX" sz="12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MX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Evita errores comunes en la planeación académica y mejora el uso de salones, tiempo y carga laboral de los profesores.</a:t>
            </a:r>
            <a:endParaRPr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s-MX" sz="12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Conflictos de horarios</a:t>
            </a:r>
            <a:r>
              <a:rPr lang="es-MX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ya que varios profesores pueden ser asignados a la misma aula o materia en el mismo horario.</a:t>
            </a:r>
            <a:endParaRPr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s-MX" sz="12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Falta de optimización</a:t>
            </a:r>
            <a:r>
              <a:rPr lang="es-MX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ya que los horarios no siempre se organizan de manera eficiente.</a:t>
            </a:r>
            <a:endParaRPr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s-MX" sz="12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Errores humanos</a:t>
            </a:r>
            <a:r>
              <a:rPr lang="es-MX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que pueden llevar a asignaciones incorrectas o incompletas.</a:t>
            </a:r>
            <a:endParaRPr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s-MX" sz="12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Dificultad para modificar horarios</a:t>
            </a:r>
            <a:r>
              <a:rPr lang="es-MX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ya que cualquier cambio requiere revisar todo de manera manual. Para solucionar estos problemas, hemos diseñado un </a:t>
            </a:r>
            <a:r>
              <a:rPr lang="es-MX" sz="12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 automatizado</a:t>
            </a:r>
            <a:r>
              <a:rPr lang="es-MX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permite la asignación eficiente de materias y horarios, garantizando que no haya conflictos y optimizando el uso de recursos."</a:t>
            </a:r>
            <a:endParaRPr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endParaRPr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g3182893e961_1_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7800" y="0"/>
            <a:ext cx="16562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C232">
            <a:alpha val="14470"/>
          </a:srgbClr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5a93474d8b_0_21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27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MX" sz="13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4.- CÓMO FUNCIONA EL SISTEMA</a:t>
            </a:r>
            <a:endParaRPr sz="13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MX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 práctico del funcionamiento:</a:t>
            </a:r>
            <a:endParaRPr sz="11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s-MX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administrador registra al profesor y sus materias.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s-MX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sistema analiza qué profesor es más compatible con qué materia.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s-MX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Calcula los horarios evitando choques.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s-MX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asignan grupos y se generan reportes.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MX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¿Qué tecnología usamos?</a:t>
            </a:r>
            <a:br>
              <a:rPr lang="es-MX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MX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Usamos algoritmos como </a:t>
            </a:r>
            <a:r>
              <a:rPr lang="es-MX" sz="11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Gale-Shapley</a:t>
            </a:r>
            <a:r>
              <a:rPr lang="es-MX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hacer “emparejamientos justos” y programación lógica para resolver conflictos de horarios.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MX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¿Y la seguridad?</a:t>
            </a:r>
            <a:br>
              <a:rPr lang="es-MX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MX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Cada usuario solo puede ver lo que le corresponde, según su rol. Esto protege la información personal y académica.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5" name="Google Shape;155;g35a93474d8b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0950" y="2890156"/>
            <a:ext cx="4813051" cy="2253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35a93474d8b_0_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" y="2890156"/>
            <a:ext cx="5021036" cy="2253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"/>
          <p:cNvSpPr txBox="1"/>
          <p:nvPr/>
        </p:nvSpPr>
        <p:spPr>
          <a:xfrm>
            <a:off x="0" y="0"/>
            <a:ext cx="4613700" cy="42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1"/>
              <a:t>5</a:t>
            </a:r>
            <a:r>
              <a:rPr lang="es-MX" sz="1600" b="1" i="0" u="none" strike="noStrike" cap="none">
                <a:solidFill>
                  <a:srgbClr val="000000"/>
                </a:solidFill>
              </a:rPr>
              <a:t>.- Tarea - Objetivo de la Implementación</a:t>
            </a:r>
            <a:endParaRPr sz="1600" b="1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200" i="0" u="none" strike="noStrike" cap="none">
                <a:solidFill>
                  <a:srgbClr val="000000"/>
                </a:solidFill>
              </a:rPr>
              <a:t>"El objetivo principal de nuestro sistema es </a:t>
            </a:r>
            <a:r>
              <a:rPr lang="es-MX" sz="1200" b="1" i="0" u="none" strike="noStrike" cap="none">
                <a:solidFill>
                  <a:srgbClr val="000000"/>
                </a:solidFill>
              </a:rPr>
              <a:t>automatizar y optimizar la asignación de materias y horarios para profesores</a:t>
            </a:r>
            <a:r>
              <a:rPr lang="es-MX" sz="1200" i="0" u="none" strike="noStrike" cap="none">
                <a:solidFill>
                  <a:srgbClr val="000000"/>
                </a:solidFill>
              </a:rPr>
              <a:t>.</a:t>
            </a:r>
            <a:endParaRPr sz="1200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200" i="0" u="none" strike="noStrike" cap="none">
                <a:solidFill>
                  <a:srgbClr val="000000"/>
                </a:solidFill>
              </a:rPr>
              <a:t>Para lograrlo, nos planteamos los siguientes objetivos específicos:</a:t>
            </a:r>
            <a:endParaRPr sz="1200" i="0" u="none" strike="noStrike" cap="none">
              <a:solidFill>
                <a:srgbClr val="000000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s-MX" sz="1200" b="1" i="0" u="none" strike="noStrike" cap="none">
                <a:solidFill>
                  <a:srgbClr val="000000"/>
                </a:solidFill>
              </a:rPr>
              <a:t>Desarrollar un algoritmo que asigna horarios automáticamente</a:t>
            </a:r>
            <a:r>
              <a:rPr lang="es-MX" sz="1200" i="0" u="none" strike="noStrike" cap="none">
                <a:solidFill>
                  <a:srgbClr val="000000"/>
                </a:solidFill>
              </a:rPr>
              <a:t>, evitando conflictos de aula y disponibilidad de los profesores.</a:t>
            </a:r>
            <a:endParaRPr sz="1200" i="0" u="none" strike="noStrike" cap="none">
              <a:solidFill>
                <a:srgbClr val="000000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s-MX" sz="1200" b="1" i="0" u="none" strike="noStrike" cap="none">
                <a:solidFill>
                  <a:srgbClr val="000000"/>
                </a:solidFill>
              </a:rPr>
              <a:t>Implementar un sistema flexible</a:t>
            </a:r>
            <a:r>
              <a:rPr lang="es-MX" sz="1200" i="0" u="none" strike="noStrike" cap="none">
                <a:solidFill>
                  <a:srgbClr val="000000"/>
                </a:solidFill>
              </a:rPr>
              <a:t>, que permite agregar nuevas materias y profesores sin afectar el funcionamiento general.</a:t>
            </a:r>
            <a:endParaRPr sz="1200" i="0" u="none" strike="noStrike" cap="none">
              <a:solidFill>
                <a:srgbClr val="000000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s-MX" sz="1200" b="1" i="0" u="none" strike="noStrike" cap="none">
                <a:solidFill>
                  <a:srgbClr val="000000"/>
                </a:solidFill>
              </a:rPr>
              <a:t>Facilitar la gestión de cambios y reasignaciones</a:t>
            </a:r>
            <a:r>
              <a:rPr lang="es-MX" sz="1200" i="0" u="none" strike="noStrike" cap="none">
                <a:solidFill>
                  <a:srgbClr val="000000"/>
                </a:solidFill>
              </a:rPr>
              <a:t>, permitiendo modificaciones en tiempo real sin afectar otras asignaciones.</a:t>
            </a:r>
            <a:endParaRPr sz="1200" i="0" u="none" strike="noStrike" cap="none">
              <a:solidFill>
                <a:srgbClr val="000000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s-MX" sz="1200" b="1" i="0" u="none" strike="noStrike" cap="none">
                <a:solidFill>
                  <a:srgbClr val="000000"/>
                </a:solidFill>
              </a:rPr>
              <a:t>Garantizar que la interfaz sea intuitiva</a:t>
            </a:r>
            <a:r>
              <a:rPr lang="es-MX" sz="1200" i="0" u="none" strike="noStrike" cap="none">
                <a:solidFill>
                  <a:srgbClr val="000000"/>
                </a:solidFill>
              </a:rPr>
              <a:t>, de modo que los administradores puedan gestionar horarios de manera </a:t>
            </a:r>
            <a:r>
              <a:rPr lang="es-MX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sencilla.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34400" y="0"/>
            <a:ext cx="4409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3703e5e1be_1_30"/>
          <p:cNvSpPr txBox="1"/>
          <p:nvPr/>
        </p:nvSpPr>
        <p:spPr>
          <a:xfrm>
            <a:off x="5632800" y="0"/>
            <a:ext cx="35112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1600" b="1"/>
              <a:t>6</a:t>
            </a:r>
            <a:r>
              <a:rPr lang="es-MX" sz="1600" b="1" i="0" u="none" strike="noStrike" cap="none">
                <a:solidFill>
                  <a:srgbClr val="000000"/>
                </a:solidFill>
              </a:rPr>
              <a:t>.- Casos de uso</a:t>
            </a:r>
            <a:endParaRPr sz="1600" b="1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MX" sz="1500">
                <a:solidFill>
                  <a:schemeClr val="dk1"/>
                </a:solidFill>
              </a:rPr>
              <a:t>A través de su implementación, se busca agilizar el proceso de asignación de docentes, garantizar una distribución equitativa de la carga académica y facilitar la consulta y modificación de asignaciones.</a:t>
            </a:r>
            <a:endParaRPr sz="150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>
              <a:solidFill>
                <a:schemeClr val="dk1"/>
              </a:solidFill>
            </a:endParaRPr>
          </a:p>
        </p:txBody>
      </p:sp>
      <p:pic>
        <p:nvPicPr>
          <p:cNvPr id="168" name="Google Shape;168;g33703e5e1be_1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6328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3703e5e1be_1_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2800" y="2021600"/>
            <a:ext cx="3511200" cy="312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182893e961_1_19"/>
          <p:cNvSpPr txBox="1"/>
          <p:nvPr/>
        </p:nvSpPr>
        <p:spPr>
          <a:xfrm>
            <a:off x="1709550" y="-200031"/>
            <a:ext cx="5724900" cy="58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MX" sz="1600" b="1" dirty="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s-MX" sz="16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.- Implementación de </a:t>
            </a:r>
            <a:r>
              <a:rPr lang="es-MX" sz="1600" b="1" dirty="0">
                <a:latin typeface="Times New Roman"/>
                <a:ea typeface="Times New Roman"/>
                <a:cs typeface="Times New Roman"/>
                <a:sym typeface="Times New Roman"/>
              </a:rPr>
              <a:t>Patrones</a:t>
            </a:r>
            <a:endParaRPr sz="2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g3182893e961_1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1304913"/>
            <a:ext cx="5734050" cy="38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182893e961_1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1125" y="388725"/>
            <a:ext cx="6181725" cy="91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a93474d8b_0_74"/>
          <p:cNvSpPr txBox="1"/>
          <p:nvPr/>
        </p:nvSpPr>
        <p:spPr>
          <a:xfrm>
            <a:off x="1709550" y="-122475"/>
            <a:ext cx="57249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MX" sz="2000" b="1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s-MX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.- Implementación de </a:t>
            </a:r>
            <a:r>
              <a:rPr lang="es-MX" sz="2000" b="1">
                <a:latin typeface="Times New Roman"/>
                <a:ea typeface="Times New Roman"/>
                <a:cs typeface="Times New Roman"/>
                <a:sym typeface="Times New Roman"/>
              </a:rPr>
              <a:t>Patrones</a:t>
            </a:r>
            <a:endParaRPr sz="2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g35a93474d8b_0_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33425"/>
            <a:ext cx="5734050" cy="441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5a93474d8b_0_74"/>
          <p:cNvSpPr txBox="1"/>
          <p:nvPr/>
        </p:nvSpPr>
        <p:spPr>
          <a:xfrm>
            <a:off x="5734050" y="733425"/>
            <a:ext cx="3345900" cy="29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/>
              <a:t>Patrón</a:t>
            </a:r>
            <a:r>
              <a:rPr lang="es-MX" sz="1600"/>
              <a:t> </a:t>
            </a:r>
            <a:r>
              <a:rPr lang="es-MX" sz="1600" b="1"/>
              <a:t>Observer: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/>
              <a:t>Descripción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/>
              <a:t>Notifica automáticamente cambios en horarios.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/>
              <a:t>Implementación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/>
              <a:t>Profesores y alumnos son observadores del horario.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/>
              <a:t>Beneficios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/>
              <a:t>Desacoplamiento, escalabilidad.</a:t>
            </a:r>
            <a:endParaRPr sz="1600"/>
          </a:p>
          <a:p>
            <a:pPr marL="0" marR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1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5a93474d8b_0_85"/>
          <p:cNvSpPr txBox="1"/>
          <p:nvPr/>
        </p:nvSpPr>
        <p:spPr>
          <a:xfrm>
            <a:off x="5734050" y="108850"/>
            <a:ext cx="3410100" cy="36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MX" sz="2000" b="1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s-MX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.- Implementación de </a:t>
            </a:r>
            <a:r>
              <a:rPr lang="es-MX" sz="2000" b="1">
                <a:latin typeface="Times New Roman"/>
                <a:ea typeface="Times New Roman"/>
                <a:cs typeface="Times New Roman"/>
                <a:sym typeface="Times New Roman"/>
              </a:rPr>
              <a:t>Patrones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/>
              <a:t>Patrón</a:t>
            </a:r>
            <a:r>
              <a:rPr lang="es-MX" sz="1600"/>
              <a:t> </a:t>
            </a:r>
            <a:r>
              <a:rPr lang="es-MX" sz="1600" b="1"/>
              <a:t>MVC: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/>
              <a:t>Descripción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/>
              <a:t>Separa lógica de negocio, interfaz y controladores.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/>
              <a:t>Implementación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/>
              <a:t>Modelo (datos), Vista (UI), Controlador (interacción).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/>
              <a:t>Beneficios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/>
              <a:t>Modularidad, reutilización, fácil mantenimiento.</a:t>
            </a:r>
            <a:endParaRPr sz="1600"/>
          </a:p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1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9" name="Google Shape;189;g35a93474d8b_0_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7340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0c1464f5ba_0_54"/>
          <p:cNvSpPr txBox="1"/>
          <p:nvPr/>
        </p:nvSpPr>
        <p:spPr>
          <a:xfrm>
            <a:off x="0" y="-127025"/>
            <a:ext cx="3654000" cy="50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MX" sz="2000" b="1"/>
              <a:t>8</a:t>
            </a:r>
            <a:r>
              <a:rPr lang="es-MX" sz="2000" b="1" i="0" u="none" strike="noStrike" cap="none">
                <a:solidFill>
                  <a:srgbClr val="000000"/>
                </a:solidFill>
              </a:rPr>
              <a:t>.- </a:t>
            </a:r>
            <a:r>
              <a:rPr lang="es-MX" sz="2000" b="1"/>
              <a:t>Interfaz</a:t>
            </a:r>
            <a:endParaRPr sz="2000" b="1" i="0" u="none" strike="noStrike" cap="none">
              <a:solidFill>
                <a:srgbClr val="000000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MX" sz="1200"/>
              <a:t>Este sistema está diseñado con arquitectura web basada en el modelo cliente-servidor, por lo que las interfaces entre los componentes siguen estándares modernos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MX" sz="1100" b="1"/>
              <a:t>Relaciones del Sistema</a:t>
            </a:r>
            <a:endParaRPr sz="1100" b="1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s-MX" sz="1100" b="1"/>
              <a:t>Administrador</a:t>
            </a:r>
            <a:r>
              <a:rPr lang="es-MX" sz="1100"/>
              <a:t>: Usa interfaces para gestionar profesores, materias, grupos y horarios.</a:t>
            </a:r>
            <a:br>
              <a:rPr lang="es-MX" sz="1100"/>
            </a:b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-MX" sz="1100" b="1"/>
              <a:t>Profesor</a:t>
            </a:r>
            <a:r>
              <a:rPr lang="es-MX" sz="1100"/>
              <a:t>: Consulta sus horarios, materias y grupos asignados.</a:t>
            </a:r>
            <a:br>
              <a:rPr lang="es-MX" sz="1100"/>
            </a:b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-MX" sz="1100" b="1"/>
              <a:t>Base de Datos (MySQL Workbench)</a:t>
            </a:r>
            <a:r>
              <a:rPr lang="es-MX" sz="1100"/>
              <a:t>: Almacena y gestiona datos a través de los módulos CU01 a CU05.</a:t>
            </a:r>
            <a:br>
              <a:rPr lang="es-MX" sz="1100"/>
            </a:b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-MX" sz="1100" b="1"/>
              <a:t>Servidor Django</a:t>
            </a:r>
            <a:r>
              <a:rPr lang="es-MX" sz="1100"/>
              <a:t>: Controla la lógica del sistema y se comunica con todos los módulos (CU01–CU08).</a:t>
            </a:r>
            <a:br>
              <a:rPr lang="es-MX" sz="1100"/>
            </a:b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-MX" sz="1100" b="1"/>
              <a:t>Navegador Web (Frontend)</a:t>
            </a:r>
            <a:r>
              <a:rPr lang="es-MX" sz="1100"/>
              <a:t>: Interactúa con Django para mostrar la interfaz a los usuarios.</a:t>
            </a:r>
            <a:endParaRPr sz="1200"/>
          </a:p>
        </p:txBody>
      </p:sp>
      <p:pic>
        <p:nvPicPr>
          <p:cNvPr id="195" name="Google Shape;195;g30c1464f5ba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3952" y="0"/>
            <a:ext cx="549004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370c97aa92_0_2"/>
          <p:cNvSpPr txBox="1"/>
          <p:nvPr/>
        </p:nvSpPr>
        <p:spPr>
          <a:xfrm>
            <a:off x="515100" y="0"/>
            <a:ext cx="81138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1"/>
              <a:t>9</a:t>
            </a:r>
            <a:r>
              <a:rPr lang="es-MX" sz="2000" b="1" i="0" u="none" strike="noStrike" cap="none">
                <a:solidFill>
                  <a:srgbClr val="000000"/>
                </a:solidFill>
              </a:rPr>
              <a:t>.- </a:t>
            </a:r>
            <a:r>
              <a:rPr lang="es-MX" sz="2000" b="1"/>
              <a:t>Diagrama de Estructura (Clases UML)</a:t>
            </a:r>
            <a:endParaRPr sz="2000" b="1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5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g3370c97aa92_0_2"/>
          <p:cNvSpPr txBox="1"/>
          <p:nvPr/>
        </p:nvSpPr>
        <p:spPr>
          <a:xfrm>
            <a:off x="5734050" y="674500"/>
            <a:ext cx="3410100" cy="44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 b="1"/>
              <a:t>El diagrama de clases del sistema refleja la interacción entre estas clases, su jerarquía (mediante generalizaciones) y sus asociaciones. La clase central SistemaAsignación se conecta a la lógica de negocio a través de Control, que distribuye la funcionalidad entre Servicios y Backend. El Frontend facilita la interacción con los usuarios y se construye sobre Componentes y Views.</a:t>
            </a:r>
            <a:endParaRPr sz="1500" b="1" i="0" u="none" strike="noStrike" cap="none">
              <a:solidFill>
                <a:srgbClr val="000000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MX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g3370c97aa92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68125"/>
            <a:ext cx="5734050" cy="39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370c97aa92_0_11"/>
          <p:cNvSpPr txBox="1"/>
          <p:nvPr/>
        </p:nvSpPr>
        <p:spPr>
          <a:xfrm>
            <a:off x="0" y="0"/>
            <a:ext cx="3102900" cy="6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1"/>
              <a:t>10</a:t>
            </a:r>
            <a:r>
              <a:rPr lang="es-MX" sz="2000" b="1" i="0" u="none" strike="noStrike" cap="none">
                <a:solidFill>
                  <a:srgbClr val="000000"/>
                </a:solidFill>
              </a:rPr>
              <a:t>.- </a:t>
            </a:r>
            <a:r>
              <a:rPr lang="es-MX" sz="2000" b="1"/>
              <a:t>Interacción</a:t>
            </a:r>
            <a:endParaRPr sz="20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08" name="Google Shape;208;g3370c97aa92_0_11"/>
          <p:cNvSpPr txBox="1"/>
          <p:nvPr/>
        </p:nvSpPr>
        <p:spPr>
          <a:xfrm>
            <a:off x="0" y="569850"/>
            <a:ext cx="3321300" cy="41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MX" sz="1200" b="1"/>
              <a:t>DIAGRAMA DE SECUENCIA 1 DEL CASO DE USO 01 AGREGAR PROFESOR</a:t>
            </a:r>
            <a:r>
              <a:rPr lang="es-MX" sz="1200"/>
              <a:t>:</a:t>
            </a:r>
            <a:endParaRPr sz="1200"/>
          </a:p>
          <a:p>
            <a:pPr marL="45720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MX" sz="1200"/>
              <a:t>El </a:t>
            </a:r>
            <a:r>
              <a:rPr lang="es-MX" sz="1200" b="1"/>
              <a:t>Administrador</a:t>
            </a:r>
            <a:r>
              <a:rPr lang="es-MX" sz="1200"/>
              <a:t> inicia la sesión y navega a la opción de agregar profesor.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MX" sz="1200"/>
              <a:t>La </a:t>
            </a:r>
            <a:r>
              <a:rPr lang="es-MX" sz="1200" b="1"/>
              <a:t>Interfaz</a:t>
            </a:r>
            <a:r>
              <a:rPr lang="es-MX" sz="1200"/>
              <a:t> presenta un formulario para los datos del nuevo profesor.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MX" sz="1200"/>
              <a:t>El </a:t>
            </a:r>
            <a:r>
              <a:rPr lang="es-MX" sz="1200" b="1"/>
              <a:t>Administrador</a:t>
            </a:r>
            <a:r>
              <a:rPr lang="es-MX" sz="1200"/>
              <a:t> ingresa la información (ID, nombre, correo, especialidad, materias).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MX" sz="1200"/>
              <a:t>El </a:t>
            </a:r>
            <a:r>
              <a:rPr lang="es-MX" sz="1200" b="1"/>
              <a:t>Controller</a:t>
            </a:r>
            <a:r>
              <a:rPr lang="es-MX" sz="1200"/>
              <a:t> valida cada dato consultando al </a:t>
            </a:r>
            <a:r>
              <a:rPr lang="es-MX" sz="1200" b="1"/>
              <a:t>Sesion Manager</a:t>
            </a:r>
            <a:r>
              <a:rPr lang="es-MX" sz="1200"/>
              <a:t> y la </a:t>
            </a:r>
            <a:r>
              <a:rPr lang="es-MX" sz="1200" b="1"/>
              <a:t>Base de Datos</a:t>
            </a:r>
            <a:r>
              <a:rPr lang="es-MX" sz="1200"/>
              <a:t>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MX" sz="1200"/>
              <a:t>Una vez validados, el </a:t>
            </a:r>
            <a:r>
              <a:rPr lang="es-MX" sz="1200" b="1"/>
              <a:t>Controller</a:t>
            </a:r>
            <a:r>
              <a:rPr lang="es-MX" sz="1200"/>
              <a:t> registra al nuevo profesor en la </a:t>
            </a:r>
            <a:r>
              <a:rPr lang="es-MX" sz="1200" b="1"/>
              <a:t>Base de Datos</a:t>
            </a:r>
            <a:r>
              <a:rPr lang="es-MX" sz="1200"/>
              <a:t>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MX" sz="1200"/>
              <a:t>Se genera una notificación de </a:t>
            </a:r>
            <a:r>
              <a:rPr lang="es-MX" sz="1200" b="1"/>
              <a:t>Nuevo UsuarioProfesor</a:t>
            </a:r>
            <a:r>
              <a:rPr lang="es-MX" sz="1200"/>
              <a:t> y se muestra una confirmación en la </a:t>
            </a:r>
            <a:r>
              <a:rPr lang="es-MX" sz="1200" b="1"/>
              <a:t>Interfaz</a:t>
            </a:r>
            <a:r>
              <a:rPr lang="es-MX" sz="1200"/>
              <a:t>.</a:t>
            </a:r>
            <a:endParaRPr sz="1200" b="1"/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MX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g3370c97aa92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9950" y="0"/>
            <a:ext cx="573405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3703e5e1be_1_9"/>
          <p:cNvSpPr txBox="1"/>
          <p:nvPr/>
        </p:nvSpPr>
        <p:spPr>
          <a:xfrm>
            <a:off x="42350" y="0"/>
            <a:ext cx="7517100" cy="18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-MX" sz="1600" b="1"/>
              <a:t>11.- Dinámica de estados</a:t>
            </a:r>
            <a:endParaRPr sz="11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/>
              <a:t>Para modelar este comportamiento, se utiliza el Diagrama de Máquina de Estados UML, que visualiza los distintos estados por los que un objeto puede pasar y las transiciones entre ellos, impulsadas por eventos específicos.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g33703e5e1be_1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9950" y="1295400"/>
            <a:ext cx="5734050" cy="38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33703e5e1be_1_9"/>
          <p:cNvSpPr txBox="1"/>
          <p:nvPr/>
        </p:nvSpPr>
        <p:spPr>
          <a:xfrm>
            <a:off x="42350" y="1218775"/>
            <a:ext cx="3367500" cy="3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/>
              <a:t>DIAGRAMA ESTADOS ASIGNAR MATERIAS A PROFESOR</a:t>
            </a:r>
            <a:endParaRPr sz="1200" b="1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/>
              <a:t>El diagrama de estados representa el flujo para asignar una materia a un profesor. El proceso inicia en el estado </a:t>
            </a:r>
            <a:r>
              <a:rPr lang="es-MX" sz="1100" b="1"/>
              <a:t>"Inicial"</a:t>
            </a:r>
            <a:r>
              <a:rPr lang="es-MX" sz="1100"/>
              <a:t>, donde el Administrador selecciona un profesor, llevando al sistema al estado </a:t>
            </a:r>
            <a:r>
              <a:rPr lang="es-MX" sz="1100" b="1"/>
              <a:t>"Selección de Profesor"</a:t>
            </a:r>
            <a:r>
              <a:rPr lang="es-MX" sz="1100"/>
              <a:t>. Luego, se pasa al estado </a:t>
            </a:r>
            <a:r>
              <a:rPr lang="es-MX" sz="1100" b="1"/>
              <a:t>"Selección de Materia"</a:t>
            </a:r>
            <a:r>
              <a:rPr lang="es-MX" sz="1100"/>
              <a:t>, donde el Administrador elige la materia que se desea asignar. En este punto, puede cambiar de materia si lo considera necesario. Una vez elegida, el sistema procede a la </a:t>
            </a:r>
            <a:r>
              <a:rPr lang="es-MX" sz="1100" b="1"/>
              <a:t>"Validación de Especialización"</a:t>
            </a:r>
            <a:r>
              <a:rPr lang="es-MX" sz="1100"/>
              <a:t>, donde verifica si el profesor es compatible con la materia. Si no lo es, se muestra un </a:t>
            </a:r>
            <a:r>
              <a:rPr lang="es-MX" sz="1100" b="1"/>
              <a:t>"Error en Asignación de Materia"</a:t>
            </a:r>
            <a:r>
              <a:rPr lang="es-MX" sz="1100"/>
              <a:t> y se debe elegir otra. Si la validación es exitosa, se accede al estado </a:t>
            </a:r>
            <a:r>
              <a:rPr lang="es-MX" sz="1100" b="1"/>
              <a:t>"Guardar Asignación"</a:t>
            </a:r>
            <a:r>
              <a:rPr lang="es-MX" sz="1100"/>
              <a:t>, registrando la información en la base de datos. Tras guardar correctamente, se presenta una </a:t>
            </a:r>
            <a:r>
              <a:rPr lang="es-MX" sz="1100" b="1"/>
              <a:t>"Confirmación al Administrador"</a:t>
            </a:r>
            <a:r>
              <a:rPr lang="es-MX" sz="1100"/>
              <a:t> y el proceso concluye en el estado </a:t>
            </a:r>
            <a:r>
              <a:rPr lang="es-MX" sz="1100" b="1"/>
              <a:t>"Final"</a:t>
            </a:r>
            <a:r>
              <a:rPr lang="es-MX" sz="1100"/>
              <a:t>.</a:t>
            </a:r>
            <a:endParaRPr sz="1200"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3703e5e1be_1_22"/>
          <p:cNvSpPr txBox="1"/>
          <p:nvPr/>
        </p:nvSpPr>
        <p:spPr>
          <a:xfrm>
            <a:off x="0" y="0"/>
            <a:ext cx="3283200" cy="41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900" b="1"/>
              <a:t>12</a:t>
            </a:r>
            <a:r>
              <a:rPr lang="es-MX" sz="1900" b="1" i="0" u="none" strike="noStrike" cap="none">
                <a:solidFill>
                  <a:srgbClr val="000000"/>
                </a:solidFill>
              </a:rPr>
              <a:t>.- </a:t>
            </a:r>
            <a:r>
              <a:rPr lang="es-MX" sz="1900" b="1"/>
              <a:t>Lógica procedimental algorítmica</a:t>
            </a:r>
            <a:endParaRPr sz="1900" b="1"/>
          </a:p>
          <a:p>
            <a:pPr marL="0" marR="0" lvl="0" indent="0" algn="ctr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0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/>
              <a:t>Esta sección de Diseño de Software se centra en detallar la lógica y los procedimientos paso a paso que el sistema implementará para llevar a cabo sus diversas funcionalidades. Va más allá de las descripciones generales y profundiza en los algoritmos específicos que se utilizarán.</a:t>
            </a:r>
            <a:endParaRPr sz="1900" b="1" i="0" u="none" strike="noStrike" cap="none">
              <a:solidFill>
                <a:srgbClr val="000000"/>
              </a:solidFill>
            </a:endParaRPr>
          </a:p>
        </p:txBody>
      </p:sp>
      <p:pic>
        <p:nvPicPr>
          <p:cNvPr id="222" name="Google Shape;222;g33703e5e1be_1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9950" y="0"/>
            <a:ext cx="5734050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g33703e5e1be_1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4025" y="2276475"/>
            <a:ext cx="2689975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33703e5e1be_1_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09950" y="2276475"/>
            <a:ext cx="3044075" cy="28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182893e961_1_77"/>
          <p:cNvSpPr txBox="1">
            <a:spLocks noGrp="1"/>
          </p:cNvSpPr>
          <p:nvPr>
            <p:ph type="subTitle" idx="1"/>
          </p:nvPr>
        </p:nvSpPr>
        <p:spPr>
          <a:xfrm>
            <a:off x="-45300" y="0"/>
            <a:ext cx="9189300" cy="27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200"/>
              <a:buNone/>
            </a:pPr>
            <a:r>
              <a:rPr lang="es-MX" sz="2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13.- Conclusión y Próximos Pasos</a:t>
            </a:r>
            <a:endParaRPr sz="25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MX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desarrollo del "Sistema de Asignación de Horarios de Profesores" evidencia una sólida planificación y un enfoque profesional en su diseño. La organización meticulosa del contenido, la claridad en la identificación de actores y casos de uso, y el uso extensivo de diagramas UML reflejan una comprensión integral del sistema y sus requerimientos. Además, la incorporación de patrones de diseño reconocidos y la distinción entre las vistas lógica y física de la arquitectura aseguran una base técnica robusta, orientada a la escalabilidad y el mantenimiento.  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MX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Próximos pasos: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s-MX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Implementar algoritmos de optimización avanzada, para mejorar aún más la asignación automática de horarios.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s-MX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Integrar el sistema con una base de datos en tiempo real, permitiendo actualizaciones instantáneas en caso de cambios en los horarios.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s-MX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Desarrollar reportes automatizados, para que los administradores puedan visualizar la asignación de horarios de forma clara y detallada.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MX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 sistema representa un avance significativo en la gestión académica, permitiendo una administración más eficiente y reduciendo la carga de trabajo manual.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g3182893e961_1_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00" y="3461675"/>
            <a:ext cx="310515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g3182893e961_1_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9950" y="2783700"/>
            <a:ext cx="5734050" cy="23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9"/>
          <p:cNvSpPr txBox="1">
            <a:spLocks noGrp="1"/>
          </p:cNvSpPr>
          <p:nvPr>
            <p:ph type="title"/>
          </p:nvPr>
        </p:nvSpPr>
        <p:spPr>
          <a:xfrm>
            <a:off x="3948138" y="540000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MX"/>
              <a:t>¡Gracias!</a:t>
            </a:r>
            <a:endParaRPr/>
          </a:p>
        </p:txBody>
      </p:sp>
      <p:cxnSp>
        <p:nvCxnSpPr>
          <p:cNvPr id="237" name="Google Shape;237;p29"/>
          <p:cNvCxnSpPr/>
          <p:nvPr/>
        </p:nvCxnSpPr>
        <p:spPr>
          <a:xfrm>
            <a:off x="4465200" y="1813150"/>
            <a:ext cx="341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8" name="Google Shape;238;p29"/>
          <p:cNvSpPr/>
          <p:nvPr/>
        </p:nvSpPr>
        <p:spPr>
          <a:xfrm>
            <a:off x="3802175" y="3625702"/>
            <a:ext cx="4806050" cy="510363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" name="Google Shape;239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2375" y="1911175"/>
            <a:ext cx="3861816" cy="2898648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9"/>
          <p:cNvSpPr/>
          <p:nvPr/>
        </p:nvSpPr>
        <p:spPr>
          <a:xfrm>
            <a:off x="1395188" y="1606647"/>
            <a:ext cx="570900" cy="57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9"/>
          <p:cNvSpPr/>
          <p:nvPr/>
        </p:nvSpPr>
        <p:spPr>
          <a:xfrm>
            <a:off x="5310891" y="4601247"/>
            <a:ext cx="306600" cy="30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ti-Corruption Policies Project Proposal by Slidesgo">
  <a:themeElements>
    <a:clrScheme name="Simple Light">
      <a:dk1>
        <a:srgbClr val="191919"/>
      </a:dk1>
      <a:lt1>
        <a:srgbClr val="D9D9D9"/>
      </a:lt1>
      <a:dk2>
        <a:srgbClr val="CCCCCC"/>
      </a:dk2>
      <a:lt2>
        <a:srgbClr val="CC0000"/>
      </a:lt2>
      <a:accent1>
        <a:srgbClr val="99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1560</Words>
  <Application>Microsoft Office PowerPoint</Application>
  <PresentationFormat>Presentación en pantalla (16:9)</PresentationFormat>
  <Paragraphs>121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7" baseType="lpstr">
      <vt:lpstr>Didact Gothic</vt:lpstr>
      <vt:lpstr>Open Sans</vt:lpstr>
      <vt:lpstr>Raleway</vt:lpstr>
      <vt:lpstr>Ruda Black</vt:lpstr>
      <vt:lpstr>Times New Roman</vt:lpstr>
      <vt:lpstr>Nunito Light</vt:lpstr>
      <vt:lpstr>Ruda</vt:lpstr>
      <vt:lpstr>Arial</vt:lpstr>
      <vt:lpstr>Anti-Corruption Policies Project Proposal by Slidesgo</vt:lpstr>
      <vt:lpstr> UNIVERSIDAD AUTÓNOMA DE LA CIUDAD DE MÉXICO (UACM). Plantel: Cuautepec.  Presentación 1. SISTEMA DE ASIGNACIÓN DE HORARIOS DE PROFESORES Curso: Diseño de software  Profesor: Máximo Eduardo Sánchez Gutiérrez.                                    Alumno: Cuapantecatl Ruiz Raul Irving.                                                    FECHA 22/05/2025  </vt:lpstr>
      <vt:lpstr>ÍNDICE  TÍTULO Y PROPÓSITO DEL PROYECTO INTRODUCCIÓN AL DISEÑO DEL SISTEMA CONTEXTO GENERAL CÓMO FUNCIONA EL SISTEMA Tarea - Objetivo de la Implementación Casos de uso Implementación de Patrones Interfaz Diagrama de Estructura (Clases UML) Interacción Dinámica de estados Lógica procedimental algorítmica Conclusión y Próximos Pasos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¡Gracias!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RAUL IRVING CUAPANTECATL RUIZ</cp:lastModifiedBy>
  <cp:revision>9</cp:revision>
  <dcterms:modified xsi:type="dcterms:W3CDTF">2025-05-19T05:05:18Z</dcterms:modified>
</cp:coreProperties>
</file>